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4630400" cy="8229600"/>
  <p:notesSz cx="8229600" cy="14630400"/>
  <p:embeddedFontLst>
    <p:embeddedFont>
      <p:font typeface="DM Sans" pitchFamily="2" charset="0"/>
      <p:regular r:id="rId12"/>
      <p:italic r:id="rId13"/>
    </p:embeddedFont>
    <p:embeddedFont>
      <p:font typeface="DM Sans Semi Bold" panose="020B0604020202020204" charset="0"/>
      <p:regular r:id="rId14"/>
    </p:embeddedFont>
  </p:embeddedFontLst>
  <p:defaultTextStyle>
    <a:defPPr>
      <a:defRPr lang="ru-K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0743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DFDFE0"/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93790" y="212740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Saryna</a:t>
            </a:r>
            <a:endParaRPr lang="en-US" sz="4450" dirty="0"/>
          </a:p>
        </p:txBody>
      </p:sp>
      <p:sp>
        <p:nvSpPr>
          <p:cNvPr id="6" name="Text 2"/>
          <p:cNvSpPr/>
          <p:nvPr/>
        </p:nvSpPr>
        <p:spPr>
          <a:xfrm>
            <a:off x="793790" y="317634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MRV-платформа для метана и факелов в нефтегазе Казахстана</a:t>
            </a:r>
            <a:endParaRPr lang="en-US" sz="1750" dirty="0"/>
          </a:p>
        </p:txBody>
      </p:sp>
      <p:sp>
        <p:nvSpPr>
          <p:cNvPr id="7" name="Text 3"/>
          <p:cNvSpPr/>
          <p:nvPr/>
        </p:nvSpPr>
        <p:spPr>
          <a:xfrm>
            <a:off x="793790" y="3794403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Saryna помогает превращать спутниковый скрининг в понятный рабочий процесс: подозрительная зона, инцидент, задача на проверку и итоговый отчёт.</a:t>
            </a:r>
            <a:endParaRPr lang="en-US" sz="1750" dirty="0"/>
          </a:p>
        </p:txBody>
      </p:sp>
      <p:sp>
        <p:nvSpPr>
          <p:cNvPr id="8" name="Shape 4"/>
          <p:cNvSpPr/>
          <p:nvPr/>
        </p:nvSpPr>
        <p:spPr>
          <a:xfrm>
            <a:off x="793790" y="5138261"/>
            <a:ext cx="7556421" cy="963811"/>
          </a:xfrm>
          <a:prstGeom prst="roundRect">
            <a:avLst>
              <a:gd name="adj" fmla="val 21181"/>
            </a:avLst>
          </a:prstGeom>
          <a:solidFill>
            <a:srgbClr val="FFB3BB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0604" y="5482352"/>
            <a:ext cx="283488" cy="22681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530906" y="5421749"/>
            <a:ext cx="65924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Команда Saryna: Galym Yedigeyev, Zhunus Dauren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1396" y="1088231"/>
            <a:ext cx="8250317" cy="617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Проблема не в отсутствии данных</a:t>
            </a:r>
            <a:endParaRPr lang="en-US" sz="38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3227" y="2262009"/>
            <a:ext cx="98703" cy="9870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893975" y="2157055"/>
            <a:ext cx="2469475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Текущее состояние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9893975" y="2637711"/>
            <a:ext cx="4052530" cy="886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Спутниковые признаки выбросов и факельной активности доступны, но дальше процесс распадается.</a:t>
            </a:r>
            <a:endParaRPr lang="en-US" sz="15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3227" y="3973651"/>
            <a:ext cx="98703" cy="9870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893975" y="3868698"/>
            <a:ext cx="2469475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Последствия</a:t>
            </a:r>
            <a:endParaRPr lang="en-US" sz="1900" dirty="0"/>
          </a:p>
        </p:txBody>
      </p:sp>
      <p:sp>
        <p:nvSpPr>
          <p:cNvPr id="11" name="Text 6"/>
          <p:cNvSpPr/>
          <p:nvPr/>
        </p:nvSpPr>
        <p:spPr>
          <a:xfrm>
            <a:off x="9893975" y="4349353"/>
            <a:ext cx="4052530" cy="886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Приоритет неочевиден, ответственный не назначен, проверка уходит в переписку и таблицы.</a:t>
            </a:r>
            <a:endParaRPr lang="en-US" sz="15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3227" y="5685294"/>
            <a:ext cx="98703" cy="9870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893975" y="5580340"/>
            <a:ext cx="2469475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Ручная отчётность</a:t>
            </a:r>
            <a:endParaRPr lang="en-US" sz="1900" dirty="0"/>
          </a:p>
        </p:txBody>
      </p:sp>
      <p:sp>
        <p:nvSpPr>
          <p:cNvPr id="14" name="Text 8"/>
          <p:cNvSpPr/>
          <p:nvPr/>
        </p:nvSpPr>
        <p:spPr>
          <a:xfrm>
            <a:off x="9893975" y="6060996"/>
            <a:ext cx="4052530" cy="886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Итоговый отчёт и история действий собираются вручную — медленно и ненадёжно.</a:t>
            </a:r>
            <a:endParaRPr lang="en-US" sz="1550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5EC348ED-5DA9-076C-5796-AB176CA3C6B3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3134439" y="3564731"/>
            <a:ext cx="3556040" cy="197548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55840"/>
            <a:ext cx="1137237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Почему это важно для Казахстана сейчас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388400"/>
            <a:ext cx="4205168" cy="2501622"/>
          </a:xfrm>
          <a:prstGeom prst="roundRect">
            <a:avLst>
              <a:gd name="adj" fmla="val 8161"/>
            </a:avLst>
          </a:prstGeom>
          <a:solidFill>
            <a:srgbClr val="FFCCD1"/>
          </a:solidFill>
          <a:ln w="7620">
            <a:solidFill>
              <a:srgbClr val="E5B2B7"/>
            </a:solidFill>
            <a:prstDash val="solid"/>
          </a:ln>
          <a:effectLst>
            <a:outerShdw dist="29210" dir="2700000" algn="bl" rotWithShape="0">
              <a:srgbClr val="E5B2B7">
                <a:alpha val="10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28224" y="36228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Контекст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8224" y="4203978"/>
            <a:ext cx="373630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Обновлённые климатические обязательства и международные инициативы требуют практических решений.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559981" y="3259931"/>
            <a:ext cx="565904" cy="707350"/>
          </a:xfrm>
          <a:prstGeom prst="roundRect">
            <a:avLst>
              <a:gd name="adj" fmla="val 36074"/>
            </a:avLst>
          </a:prstGeom>
          <a:solidFill>
            <a:srgbClr val="DFDFE0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4293" y="3536275"/>
            <a:ext cx="137160" cy="1371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9373" y="3259931"/>
            <a:ext cx="172295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26.11.2025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409373" y="3841075"/>
            <a:ext cx="172295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Казахстан подал NDC 3.0 в UNFCCC.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8415814" y="3259931"/>
            <a:ext cx="565904" cy="707350"/>
          </a:xfrm>
          <a:prstGeom prst="roundRect">
            <a:avLst>
              <a:gd name="adj" fmla="val 36074"/>
            </a:avLst>
          </a:prstGeom>
          <a:solidFill>
            <a:srgbClr val="DFDFE0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0126" y="3536275"/>
            <a:ext cx="137160" cy="1371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265206" y="3259931"/>
            <a:ext cx="172295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21.10.2024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9265206" y="3841075"/>
            <a:ext cx="1722953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Стратегия углеродной нейтральности до 2060 (LT-LEDS) подана в UNFCCC.</a:t>
            </a:r>
            <a:endParaRPr lang="en-US" sz="1750" dirty="0"/>
          </a:p>
        </p:txBody>
      </p:sp>
      <p:sp>
        <p:nvSpPr>
          <p:cNvPr id="14" name="Shape 10"/>
          <p:cNvSpPr/>
          <p:nvPr/>
        </p:nvSpPr>
        <p:spPr>
          <a:xfrm>
            <a:off x="11271647" y="3259931"/>
            <a:ext cx="565904" cy="707350"/>
          </a:xfrm>
          <a:prstGeom prst="roundRect">
            <a:avLst>
              <a:gd name="adj" fmla="val 36074"/>
            </a:avLst>
          </a:prstGeom>
          <a:solidFill>
            <a:srgbClr val="DFDFE0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5959" y="3536275"/>
            <a:ext cx="137160" cy="1371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121039" y="3259931"/>
            <a:ext cx="1722953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Zero Routine Flaring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12121039" y="4195405"/>
            <a:ext cx="1722953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Казахстан поддерживает цель Zero Routine Flaring by 2030.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DFDFE0"/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93790" y="220110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Мы предлагаем не карту, а рабочий процесс</a:t>
            </a:r>
            <a:endParaRPr lang="en-US" sz="4450" dirty="0"/>
          </a:p>
        </p:txBody>
      </p:sp>
      <p:sp>
        <p:nvSpPr>
          <p:cNvPr id="6" name="Text 2"/>
          <p:cNvSpPr/>
          <p:nvPr/>
        </p:nvSpPr>
        <p:spPr>
          <a:xfrm>
            <a:off x="793790" y="3958828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Saryna — MRV-инструмент, переводящий спутниковый скрининг в конкретные действия: открыть кейс, назначить проверку, зафиксировать ход и собрать итоговый отчёт.</a:t>
            </a:r>
            <a:endParaRPr lang="en-US" sz="1750" dirty="0"/>
          </a:p>
        </p:txBody>
      </p:sp>
      <p:sp>
        <p:nvSpPr>
          <p:cNvPr id="7" name="Text 3"/>
          <p:cNvSpPr/>
          <p:nvPr/>
        </p:nvSpPr>
        <p:spPr>
          <a:xfrm>
            <a:off x="793790" y="5302687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MRV = Measurement, Reporting, Verification — измерение, отчётность и верификация.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33017" y="1178481"/>
            <a:ext cx="3682603" cy="460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850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Как работает Saryna</a:t>
            </a:r>
            <a:endParaRPr lang="en-US" sz="2850" dirty="0"/>
          </a:p>
        </p:txBody>
      </p:sp>
      <p:sp>
        <p:nvSpPr>
          <p:cNvPr id="3" name="Shape 1"/>
          <p:cNvSpPr/>
          <p:nvPr/>
        </p:nvSpPr>
        <p:spPr>
          <a:xfrm>
            <a:off x="4147661" y="3680103"/>
            <a:ext cx="2651522" cy="1473041"/>
          </a:xfrm>
          <a:prstGeom prst="roundRect">
            <a:avLst>
              <a:gd name="adj" fmla="val 9000"/>
            </a:avLst>
          </a:prstGeom>
          <a:solidFill>
            <a:srgbClr val="DFDFE0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9003" y="4208740"/>
            <a:ext cx="228600" cy="228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471511" y="4512231"/>
            <a:ext cx="2003703" cy="140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00" dirty="0">
                <a:solidFill>
                  <a:srgbClr val="AEAEB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There was an error generating this image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080897" y="1889760"/>
            <a:ext cx="147280" cy="184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01</a:t>
            </a:r>
            <a:endParaRPr lang="en-US" sz="11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0897" y="2124789"/>
            <a:ext cx="3323868" cy="152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080897" y="2228850"/>
            <a:ext cx="1841302" cy="230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Источники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9080897" y="2554605"/>
            <a:ext cx="3323868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Sentinel-5P / TROPOMI для CH4, VIIRS Nightfire для факельной активности.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9080897" y="3149203"/>
            <a:ext cx="147280" cy="184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02</a:t>
            </a:r>
            <a:endParaRPr lang="en-US" sz="11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0897" y="3369469"/>
            <a:ext cx="3323868" cy="152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080897" y="3488293"/>
            <a:ext cx="1841302" cy="230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Отбор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9080897" y="3814048"/>
            <a:ext cx="3323868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Формирование короткой очереди подозрительных зон для оперативной проверки.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9080897" y="4602956"/>
            <a:ext cx="147280" cy="184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03</a:t>
            </a:r>
            <a:endParaRPr lang="en-US" sz="11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0897" y="4808577"/>
            <a:ext cx="3323868" cy="1524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080897" y="4942046"/>
            <a:ext cx="1841302" cy="230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Кейс и отчёт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9080897" y="5267801"/>
            <a:ext cx="3323868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Открыть инцидент, запустить проверку и выгрузить итоговый MRV-отчёт.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9080897" y="5830133"/>
            <a:ext cx="3323868" cy="1069300"/>
          </a:xfrm>
          <a:prstGeom prst="roundRect">
            <a:avLst>
              <a:gd name="adj" fmla="val 12399"/>
            </a:avLst>
          </a:prstGeom>
          <a:solidFill>
            <a:srgbClr val="FFB3BB"/>
          </a:solidFill>
          <a:ln/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8177" y="6030039"/>
            <a:ext cx="184071" cy="14728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9559528" y="6006703"/>
            <a:ext cx="26979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Мы не заменяем выездную проверку — помогаем быстрее понять, где проверять и как документировать результат.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20898"/>
            <a:ext cx="617648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Что уже готово сейчас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583305"/>
            <a:ext cx="670560" cy="670560"/>
          </a:xfrm>
          <a:prstGeom prst="roundRect">
            <a:avLst>
              <a:gd name="adj" fmla="val 30444"/>
            </a:avLst>
          </a:prstGeom>
          <a:solidFill>
            <a:srgbClr val="DFDFE0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30" y="3817977"/>
            <a:ext cx="182880" cy="1828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47838" y="3583305"/>
            <a:ext cx="209395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Публичное веб-демо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4125278" y="3583305"/>
            <a:ext cx="670560" cy="670560"/>
          </a:xfrm>
          <a:prstGeom prst="roundRect">
            <a:avLst>
              <a:gd name="adj" fmla="val 30444"/>
            </a:avLst>
          </a:prstGeom>
          <a:solidFill>
            <a:srgbClr val="DFDFE0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9118" y="3817977"/>
            <a:ext cx="182880" cy="1828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79325" y="3583305"/>
            <a:ext cx="2094071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Обновление через Earth Engine</a:t>
            </a:r>
            <a:endParaRPr lang="en-US" sz="2200" dirty="0"/>
          </a:p>
        </p:txBody>
      </p:sp>
      <p:sp>
        <p:nvSpPr>
          <p:cNvPr id="9" name="Shape 5"/>
          <p:cNvSpPr/>
          <p:nvPr/>
        </p:nvSpPr>
        <p:spPr>
          <a:xfrm>
            <a:off x="7456884" y="3583305"/>
            <a:ext cx="670560" cy="670560"/>
          </a:xfrm>
          <a:prstGeom prst="roundRect">
            <a:avLst>
              <a:gd name="adj" fmla="val 30444"/>
            </a:avLst>
          </a:prstGeom>
          <a:solidFill>
            <a:srgbClr val="DFDFE0"/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0724" y="3817977"/>
            <a:ext cx="182880" cy="1828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410932" y="3583305"/>
            <a:ext cx="2094071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Очередь подозрительных зон</a:t>
            </a:r>
            <a:endParaRPr lang="en-US" sz="2200" dirty="0"/>
          </a:p>
        </p:txBody>
      </p:sp>
      <p:sp>
        <p:nvSpPr>
          <p:cNvPr id="12" name="Shape 7"/>
          <p:cNvSpPr/>
          <p:nvPr/>
        </p:nvSpPr>
        <p:spPr>
          <a:xfrm>
            <a:off x="10788491" y="3583305"/>
            <a:ext cx="670560" cy="670560"/>
          </a:xfrm>
          <a:prstGeom prst="roundRect">
            <a:avLst>
              <a:gd name="adj" fmla="val 30444"/>
            </a:avLst>
          </a:prstGeom>
          <a:solidFill>
            <a:srgbClr val="DFDFE0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2331" y="3817977"/>
            <a:ext cx="182880" cy="1828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742539" y="3583305"/>
            <a:ext cx="2094071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Инцидент, проверка и отчёт</a:t>
            </a:r>
            <a:endParaRPr lang="en-US" sz="2200" dirty="0"/>
          </a:p>
        </p:txBody>
      </p:sp>
      <p:sp>
        <p:nvSpPr>
          <p:cNvPr id="15" name="Shape 9"/>
          <p:cNvSpPr/>
          <p:nvPr/>
        </p:nvSpPr>
        <p:spPr>
          <a:xfrm>
            <a:off x="793790" y="5099923"/>
            <a:ext cx="670560" cy="670560"/>
          </a:xfrm>
          <a:prstGeom prst="roundRect">
            <a:avLst>
              <a:gd name="adj" fmla="val 30444"/>
            </a:avLst>
          </a:prstGeom>
          <a:solidFill>
            <a:srgbClr val="DFDFE0"/>
          </a:solidFill>
          <a:ln/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30" y="5334595"/>
            <a:ext cx="182880" cy="18288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747838" y="5099923"/>
            <a:ext cx="209395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Экспорт в PDF и Word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302" y="784265"/>
            <a:ext cx="13223796" cy="12561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50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Почему наш продукт сильнее обычной аналитической панели</a:t>
            </a:r>
            <a:endParaRPr lang="en-US" sz="3950" dirty="0"/>
          </a:p>
        </p:txBody>
      </p:sp>
      <p:sp>
        <p:nvSpPr>
          <p:cNvPr id="3" name="Text 1"/>
          <p:cNvSpPr/>
          <p:nvPr/>
        </p:nvSpPr>
        <p:spPr>
          <a:xfrm>
            <a:off x="703302" y="2396371"/>
            <a:ext cx="13223796" cy="606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Большинство решений останавливается на визуализации; Saryna замыкает цикл: зона → ответственный → задача → отчёт → история действий.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03302" y="3202900"/>
            <a:ext cx="13223796" cy="3739039"/>
          </a:xfrm>
          <a:prstGeom prst="roundRect">
            <a:avLst>
              <a:gd name="adj" fmla="val 4837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0922" y="3210520"/>
            <a:ext cx="13208556" cy="53197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12019" y="3324939"/>
            <a:ext cx="3953232" cy="303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5274588" y="3324939"/>
            <a:ext cx="3949422" cy="303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Обычная карта / дашборд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633347" y="3324939"/>
            <a:ext cx="4085273" cy="303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Чат-бот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10922" y="3742492"/>
            <a:ext cx="13208556" cy="53197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12019" y="3856911"/>
            <a:ext cx="3953232" cy="303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Видимость зон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5274588" y="3856911"/>
            <a:ext cx="3949422" cy="303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Да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9633347" y="3856911"/>
            <a:ext cx="4085273" cy="303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Ограниченно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10922" y="4274463"/>
            <a:ext cx="13208556" cy="53197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912019" y="4388882"/>
            <a:ext cx="3953232" cy="303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Приоритет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5274588" y="4388882"/>
            <a:ext cx="3949422" cy="303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Нет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9633347" y="4388882"/>
            <a:ext cx="4085273" cy="303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Нет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710922" y="4806434"/>
            <a:ext cx="13208556" cy="53197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912019" y="4920853"/>
            <a:ext cx="3953232" cy="303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Ответственный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5274588" y="4920853"/>
            <a:ext cx="3949422" cy="303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Нет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9633347" y="4920853"/>
            <a:ext cx="4085273" cy="303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Нет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710922" y="5338405"/>
            <a:ext cx="13208556" cy="53197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912019" y="5452824"/>
            <a:ext cx="3953232" cy="303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Задачи проверки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5274588" y="5452824"/>
            <a:ext cx="3949422" cy="303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Нет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9633347" y="5452824"/>
            <a:ext cx="4085273" cy="303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Нет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710922" y="5870377"/>
            <a:ext cx="13208556" cy="53197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912019" y="5984796"/>
            <a:ext cx="3953232" cy="303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Отчёт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5274588" y="5984796"/>
            <a:ext cx="3949422" cy="303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Нет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9633347" y="5984796"/>
            <a:ext cx="4085273" cy="303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Нет</a:t>
            </a:r>
            <a:endParaRPr lang="en-US" sz="1550" dirty="0"/>
          </a:p>
        </p:txBody>
      </p:sp>
      <p:sp>
        <p:nvSpPr>
          <p:cNvPr id="29" name="Shape 27"/>
          <p:cNvSpPr/>
          <p:nvPr/>
        </p:nvSpPr>
        <p:spPr>
          <a:xfrm>
            <a:off x="710922" y="6402348"/>
            <a:ext cx="13208556" cy="53197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912019" y="6516767"/>
            <a:ext cx="3953232" cy="303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История действий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5274588" y="6516767"/>
            <a:ext cx="3949422" cy="303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Нет</a:t>
            </a:r>
            <a:endParaRPr lang="en-US" sz="1550" dirty="0"/>
          </a:p>
        </p:txBody>
      </p:sp>
      <p:sp>
        <p:nvSpPr>
          <p:cNvPr id="32" name="Text 30"/>
          <p:cNvSpPr/>
          <p:nvPr/>
        </p:nvSpPr>
        <p:spPr>
          <a:xfrm>
            <a:off x="9633347" y="6516767"/>
            <a:ext cx="4085273" cy="303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Нет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703302" y="7142202"/>
            <a:ext cx="13223796" cy="303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Сaryna: даёт зону, инцидент, задачу, отчёт и след действий — всё в одном рабочем процессе.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9381" y="751999"/>
            <a:ext cx="10043755" cy="6780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Пилотная ценность и следующий шаг</a:t>
            </a:r>
            <a:endParaRPr lang="en-US" sz="4250" dirty="0"/>
          </a:p>
        </p:txBody>
      </p:sp>
      <p:sp>
        <p:nvSpPr>
          <p:cNvPr id="3" name="Shape 1"/>
          <p:cNvSpPr/>
          <p:nvPr/>
        </p:nvSpPr>
        <p:spPr>
          <a:xfrm>
            <a:off x="759381" y="2228612"/>
            <a:ext cx="4244935" cy="1674495"/>
          </a:xfrm>
          <a:prstGeom prst="roundRect">
            <a:avLst>
              <a:gd name="adj" fmla="val 11662"/>
            </a:avLst>
          </a:prstGeom>
          <a:solidFill>
            <a:srgbClr val="FFCCD1"/>
          </a:solidFill>
          <a:ln w="7620">
            <a:solidFill>
              <a:srgbClr val="E5B2B7"/>
            </a:solidFill>
            <a:prstDash val="solid"/>
          </a:ln>
          <a:effectLst>
            <a:outerShdw dist="27940" dir="2700000" algn="bl" rotWithShape="0">
              <a:srgbClr val="E5B2B7">
                <a:alpha val="10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83933" y="2453164"/>
            <a:ext cx="3276243" cy="3389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Ценность для оператора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83933" y="2999661"/>
            <a:ext cx="3795832" cy="678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Быстро понять, какую зону брать в работу и кто отвечает за проверку.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59381" y="4110633"/>
            <a:ext cx="4244935" cy="1674495"/>
          </a:xfrm>
          <a:prstGeom prst="roundRect">
            <a:avLst>
              <a:gd name="adj" fmla="val 11662"/>
            </a:avLst>
          </a:prstGeom>
          <a:solidFill>
            <a:srgbClr val="FFCCD1"/>
          </a:solidFill>
          <a:ln w="7620">
            <a:solidFill>
              <a:srgbClr val="E5B2B7"/>
            </a:solidFill>
            <a:prstDash val="solid"/>
          </a:ln>
          <a:effectLst>
            <a:outerShdw dist="27940" dir="2700000" algn="bl" rotWithShape="0">
              <a:srgbClr val="E5B2B7">
                <a:alpha val="10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83933" y="4335185"/>
            <a:ext cx="3368635" cy="3389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Ценность для отчётности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83933" y="4881682"/>
            <a:ext cx="3795832" cy="678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Единый след действий и понятный итоговый документ.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59381" y="6018609"/>
            <a:ext cx="4244935" cy="1018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Saryna помогает перейти от видимости метана к понятным действиям и проверяемому результату.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757041" y="1974890"/>
            <a:ext cx="3905607" cy="2169795"/>
          </a:xfrm>
          <a:prstGeom prst="roundRect">
            <a:avLst>
              <a:gd name="adj" fmla="val 9000"/>
            </a:avLst>
          </a:prstGeom>
          <a:solidFill>
            <a:srgbClr val="DFDFE0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5485" y="2833568"/>
            <a:ext cx="228600" cy="2286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707993" y="3170396"/>
            <a:ext cx="2003703" cy="1669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800" dirty="0">
                <a:solidFill>
                  <a:srgbClr val="AEAEB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There was an error generating this image</a:t>
            </a:r>
            <a:endParaRPr lang="en-US" sz="8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1288" y="4493359"/>
            <a:ext cx="108466" cy="10846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857280" y="4378166"/>
            <a:ext cx="2712244" cy="3389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0–3 месяца</a:t>
            </a:r>
            <a:endParaRPr lang="en-US" sz="2100" dirty="0"/>
          </a:p>
        </p:txBody>
      </p:sp>
      <p:sp>
        <p:nvSpPr>
          <p:cNvPr id="15" name="Text 11"/>
          <p:cNvSpPr/>
          <p:nvPr/>
        </p:nvSpPr>
        <p:spPr>
          <a:xfrm>
            <a:off x="5857280" y="4924663"/>
            <a:ext cx="3722846" cy="678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Пилот на выбранных объектах, адаптация шаблонов отчётности.</a:t>
            </a:r>
            <a:endParaRPr lang="en-US" sz="17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9563" y="4493359"/>
            <a:ext cx="108466" cy="10846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155555" y="4378166"/>
            <a:ext cx="2712244" cy="3389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3–6 месяцев</a:t>
            </a:r>
            <a:endParaRPr lang="en-US" sz="2100" dirty="0"/>
          </a:p>
        </p:txBody>
      </p:sp>
      <p:sp>
        <p:nvSpPr>
          <p:cNvPr id="18" name="Text 13"/>
          <p:cNvSpPr/>
          <p:nvPr/>
        </p:nvSpPr>
        <p:spPr>
          <a:xfrm>
            <a:off x="10155555" y="4924663"/>
            <a:ext cx="3722965" cy="1018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Улучшение привязки к объектам, история наблюдений, правила приоритизации.</a:t>
            </a:r>
            <a:endParaRPr lang="en-US" sz="17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1288" y="6473250"/>
            <a:ext cx="108466" cy="10846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857280" y="6358057"/>
            <a:ext cx="2712244" cy="3389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A4A4A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6–12 месяцев</a:t>
            </a:r>
            <a:endParaRPr lang="en-US" sz="2100" dirty="0"/>
          </a:p>
        </p:txBody>
      </p:sp>
      <p:sp>
        <p:nvSpPr>
          <p:cNvPr id="21" name="Text 15"/>
          <p:cNvSpPr/>
          <p:nvPr/>
        </p:nvSpPr>
        <p:spPr>
          <a:xfrm>
            <a:off x="5857280" y="6904553"/>
            <a:ext cx="8021241" cy="339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Пилотное внедрение и интеграции с внутренними системами.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6768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9C5461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Источники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630097"/>
            <a:ext cx="13042821" cy="213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UNFCCC NDC Registry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UNFCCC LT-LEDS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World Bank — Zero Routine Flaring by 2030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Публичное демо Saryna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Публичный API status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463</Words>
  <Application>Microsoft Office PowerPoint</Application>
  <PresentationFormat>Произвольный</PresentationFormat>
  <Paragraphs>92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DM Sans</vt:lpstr>
      <vt:lpstr>Arial</vt:lpstr>
      <vt:lpstr>DM Sans Light</vt:lpstr>
      <vt:lpstr>DM Sans Semi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Ғалым Едигеев</cp:lastModifiedBy>
  <cp:revision>2</cp:revision>
  <dcterms:created xsi:type="dcterms:W3CDTF">2026-04-01T09:05:24Z</dcterms:created>
  <dcterms:modified xsi:type="dcterms:W3CDTF">2026-04-01T15:35:34Z</dcterms:modified>
</cp:coreProperties>
</file>